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12192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65CF07-0A87-47EF-8C23-CA5C7C2A51A4}" v="25" dt="2026-09-30T14:49:52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De Vicente Grau" userId="46183348-2291-47f1-aa1b-165cff0984cd" providerId="ADAL" clId="{A482A47D-0B28-4887-A040-A04402978156}"/>
    <pc:docChg chg="undo custSel modSld sldOrd">
      <pc:chgData name="Andrea De Vicente Grau" userId="46183348-2291-47f1-aa1b-165cff0984cd" providerId="ADAL" clId="{A482A47D-0B28-4887-A040-A04402978156}" dt="2026-09-30T15:55:41.395" v="279" actId="1036"/>
      <pc:docMkLst>
        <pc:docMk/>
      </pc:docMkLst>
      <pc:sldChg chg="addSp delSp modSp mod">
        <pc:chgData name="Andrea De Vicente Grau" userId="46183348-2291-47f1-aa1b-165cff0984cd" providerId="ADAL" clId="{A482A47D-0B28-4887-A040-A04402978156}" dt="2026-09-30T15:55:41.395" v="279" actId="1036"/>
        <pc:sldMkLst>
          <pc:docMk/>
          <pc:sldMk cId="0" sldId="257"/>
        </pc:sldMkLst>
        <pc:spChg chg="mod">
          <ac:chgData name="Andrea De Vicente Grau" userId="46183348-2291-47f1-aa1b-165cff0984cd" providerId="ADAL" clId="{A482A47D-0B28-4887-A040-A04402978156}" dt="2026-09-30T15:13:43.327" v="249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19:18.620" v="162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5:49:05.024" v="254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52.515" v="115"/>
          <ac:spMkLst>
            <pc:docMk/>
            <pc:sldMk cId="0" sldId="257"/>
            <ac:spMk id="20" creationId="{00000000-0000-0000-0000-000000000000}"/>
          </ac:spMkLst>
        </pc:spChg>
        <pc:spChg chg="add del mod">
          <ac:chgData name="Andrea De Vicente Grau" userId="46183348-2291-47f1-aa1b-165cff0984cd" providerId="ADAL" clId="{A482A47D-0B28-4887-A040-A04402978156}" dt="2026-09-30T14:20:00.174" v="166" actId="478"/>
          <ac:spMkLst>
            <pc:docMk/>
            <pc:sldMk cId="0" sldId="257"/>
            <ac:spMk id="31" creationId="{583C5D32-BCBB-5C5C-E48C-C29D65F633F6}"/>
          </ac:spMkLst>
        </pc:spChg>
        <pc:spChg chg="mod">
          <ac:chgData name="Andrea De Vicente Grau" userId="46183348-2291-47f1-aa1b-165cff0984cd" providerId="ADAL" clId="{A482A47D-0B28-4887-A040-A04402978156}" dt="2026-09-30T14:20:13.116" v="168"/>
          <ac:spMkLst>
            <pc:docMk/>
            <pc:sldMk cId="0" sldId="257"/>
            <ac:spMk id="33" creationId="{1EDE1493-4E6D-DB18-3B4E-6163FD9F0D0F}"/>
          </ac:spMkLst>
        </pc:spChg>
        <pc:spChg chg="mod">
          <ac:chgData name="Andrea De Vicente Grau" userId="46183348-2291-47f1-aa1b-165cff0984cd" providerId="ADAL" clId="{A482A47D-0B28-4887-A040-A04402978156}" dt="2026-09-30T15:55:41.395" v="279" actId="1036"/>
          <ac:spMkLst>
            <pc:docMk/>
            <pc:sldMk cId="0" sldId="257"/>
            <ac:spMk id="34" creationId="{2037B796-039C-830C-2F06-46BEBFF3F6BF}"/>
          </ac:spMkLst>
        </pc:spChg>
        <pc:spChg chg="mod">
          <ac:chgData name="Andrea De Vicente Grau" userId="46183348-2291-47f1-aa1b-165cff0984cd" providerId="ADAL" clId="{A482A47D-0B28-4887-A040-A04402978156}" dt="2026-09-30T15:55:36.977" v="275" actId="1036"/>
          <ac:spMkLst>
            <pc:docMk/>
            <pc:sldMk cId="0" sldId="257"/>
            <ac:spMk id="35" creationId="{D131250F-1932-8059-4BCF-CC22E8B3419F}"/>
          </ac:spMkLst>
        </pc:spChg>
        <pc:grpChg chg="add mod">
          <ac:chgData name="Andrea De Vicente Grau" userId="46183348-2291-47f1-aa1b-165cff0984cd" providerId="ADAL" clId="{A482A47D-0B28-4887-A040-A04402978156}" dt="2026-09-30T14:20:37.686" v="172" actId="1076"/>
          <ac:grpSpMkLst>
            <pc:docMk/>
            <pc:sldMk cId="0" sldId="257"/>
            <ac:grpSpMk id="32" creationId="{A97F5D45-0232-3C49-9ECE-E5F74B673A73}"/>
          </ac:grpSpMkLst>
        </pc:grpChg>
      </pc:sldChg>
      <pc:sldChg chg="addSp delSp modSp mod ord">
        <pc:chgData name="Andrea De Vicente Grau" userId="46183348-2291-47f1-aa1b-165cff0984cd" providerId="ADAL" clId="{A482A47D-0B28-4887-A040-A04402978156}" dt="2026-09-30T14:55:06.216" v="241"/>
        <pc:sldMkLst>
          <pc:docMk/>
          <pc:sldMk cId="0" sldId="258"/>
        </pc:sldMkLst>
        <pc:spChg chg="mod">
          <ac:chgData name="Andrea De Vicente Grau" userId="46183348-2291-47f1-aa1b-165cff0984cd" providerId="ADAL" clId="{A482A47D-0B28-4887-A040-A04402978156}" dt="2026-09-30T13:59:41.678" v="13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20:10.121" v="167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20:10.121" v="167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20:10.121" v="167" actId="16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13:37.009" v="151" actId="1076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9.090" v="142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49.699" v="140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49.699" v="140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55.325" v="141" actId="478"/>
          <ac:spMkLst>
            <pc:docMk/>
            <pc:sldMk cId="0" sldId="258"/>
            <ac:spMk id="3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49.699" v="140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49.699" v="140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2:49.699" v="140" actId="478"/>
          <ac:spMkLst>
            <pc:docMk/>
            <pc:sldMk cId="0" sldId="258"/>
            <ac:spMk id="39" creationId="{00000000-0000-0000-0000-000000000000}"/>
          </ac:spMkLst>
        </pc:spChg>
        <pc:grpChg chg="add mod">
          <ac:chgData name="Andrea De Vicente Grau" userId="46183348-2291-47f1-aa1b-165cff0984cd" providerId="ADAL" clId="{A482A47D-0B28-4887-A040-A04402978156}" dt="2026-09-30T14:20:10.121" v="167" actId="164"/>
          <ac:grpSpMkLst>
            <pc:docMk/>
            <pc:sldMk cId="0" sldId="258"/>
            <ac:grpSpMk id="51" creationId="{39446D97-15EB-0F09-CE01-4A87FB32011B}"/>
          </ac:grpSpMkLst>
        </pc:grpChg>
        <pc:picChg chg="add mod">
          <ac:chgData name="Andrea De Vicente Grau" userId="46183348-2291-47f1-aa1b-165cff0984cd" providerId="ADAL" clId="{A482A47D-0B28-4887-A040-A04402978156}" dt="2026-09-30T14:13:37.009" v="151" actId="1076"/>
          <ac:picMkLst>
            <pc:docMk/>
            <pc:sldMk cId="0" sldId="258"/>
            <ac:picMk id="50" creationId="{FA6DC14F-029A-1259-CB07-E1C3BDB80B95}"/>
          </ac:picMkLst>
        </pc:picChg>
      </pc:sldChg>
      <pc:sldChg chg="addSp delSp modSp mod">
        <pc:chgData name="Andrea De Vicente Grau" userId="46183348-2291-47f1-aa1b-165cff0984cd" providerId="ADAL" clId="{A482A47D-0B28-4887-A040-A04402978156}" dt="2026-09-30T14:15:28.881" v="155" actId="14100"/>
        <pc:sldMkLst>
          <pc:docMk/>
          <pc:sldMk cId="0" sldId="259"/>
        </pc:sldMkLst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02.709" v="152" actId="478"/>
          <ac:spMkLst>
            <pc:docMk/>
            <pc:sldMk cId="0" sldId="259"/>
            <ac:spMk id="24" creationId="{00000000-0000-0000-0000-000000000000}"/>
          </ac:spMkLst>
        </pc:spChg>
        <pc:picChg chg="add mod">
          <ac:chgData name="Andrea De Vicente Grau" userId="46183348-2291-47f1-aa1b-165cff0984cd" providerId="ADAL" clId="{A482A47D-0B28-4887-A040-A04402978156}" dt="2026-09-30T14:15:28.881" v="155" actId="14100"/>
          <ac:picMkLst>
            <pc:docMk/>
            <pc:sldMk cId="0" sldId="259"/>
            <ac:picMk id="37" creationId="{40A696D9-408C-63D2-1D79-A5BDDE7D51B9}"/>
          </ac:picMkLst>
        </pc:picChg>
      </pc:sldChg>
      <pc:sldChg chg="addSp delSp modSp mod">
        <pc:chgData name="Andrea De Vicente Grau" userId="46183348-2291-47f1-aa1b-165cff0984cd" providerId="ADAL" clId="{A482A47D-0B28-4887-A040-A04402978156}" dt="2026-09-30T14:16:18.867" v="161" actId="1076"/>
        <pc:sldMkLst>
          <pc:docMk/>
          <pc:sldMk cId="0" sldId="260"/>
        </pc:sldMkLst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15:42.558" v="156" actId="478"/>
          <ac:spMkLst>
            <pc:docMk/>
            <pc:sldMk cId="0" sldId="260"/>
            <ac:spMk id="23" creationId="{00000000-0000-0000-0000-000000000000}"/>
          </ac:spMkLst>
        </pc:spChg>
        <pc:picChg chg="add mod">
          <ac:chgData name="Andrea De Vicente Grau" userId="46183348-2291-47f1-aa1b-165cff0984cd" providerId="ADAL" clId="{A482A47D-0B28-4887-A040-A04402978156}" dt="2026-09-30T14:16:18.867" v="161" actId="1076"/>
          <ac:picMkLst>
            <pc:docMk/>
            <pc:sldMk cId="0" sldId="260"/>
            <ac:picMk id="39" creationId="{FB01B45B-883A-EDFD-6EB1-4D62DE8D1E35}"/>
          </ac:picMkLst>
        </pc:picChg>
      </pc:sldChg>
      <pc:sldChg chg="addSp delSp modSp mod ord">
        <pc:chgData name="Andrea De Vicente Grau" userId="46183348-2291-47f1-aa1b-165cff0984cd" providerId="ADAL" clId="{A482A47D-0B28-4887-A040-A04402978156}" dt="2026-09-30T15:52:36.217" v="271" actId="20577"/>
        <pc:sldMkLst>
          <pc:docMk/>
          <pc:sldMk cId="0" sldId="262"/>
        </pc:sldMkLst>
        <pc:spChg chg="mod">
          <ac:chgData name="Andrea De Vicente Grau" userId="46183348-2291-47f1-aa1b-165cff0984cd" providerId="ADAL" clId="{A482A47D-0B28-4887-A040-A04402978156}" dt="2026-09-30T15:52:36.217" v="27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31.866" v="114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5:50:37.209" v="255" actId="207"/>
          <ac:spMkLst>
            <pc:docMk/>
            <pc:sldMk cId="0" sldId="262"/>
            <ac:spMk id="30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5:50:37.209" v="255" actId="207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0:59.780" v="39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0:59.780" v="39"/>
          <ac:spMkLst>
            <pc:docMk/>
            <pc:sldMk cId="0" sldId="262"/>
            <ac:spMk id="3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1:45.435" v="53" actId="164"/>
          <ac:spMkLst>
            <pc:docMk/>
            <pc:sldMk cId="0" sldId="262"/>
            <ac:spMk id="34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1:45.435" v="53" actId="164"/>
          <ac:spMkLst>
            <pc:docMk/>
            <pc:sldMk cId="0" sldId="262"/>
            <ac:spMk id="35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2:15.300" v="65" actId="164"/>
          <ac:spMkLst>
            <pc:docMk/>
            <pc:sldMk cId="0" sldId="262"/>
            <ac:spMk id="3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2:15.300" v="65" actId="164"/>
          <ac:spMkLst>
            <pc:docMk/>
            <pc:sldMk cId="0" sldId="262"/>
            <ac:spMk id="3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0:38.616" v="24" actId="164"/>
          <ac:spMkLst>
            <pc:docMk/>
            <pc:sldMk cId="0" sldId="262"/>
            <ac:spMk id="3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0:38.616" v="24" actId="164"/>
          <ac:spMkLst>
            <pc:docMk/>
            <pc:sldMk cId="0" sldId="262"/>
            <ac:spMk id="3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40" creationId="{00000000-0000-0000-0000-000000000000}"/>
          </ac:spMkLst>
        </pc:spChg>
        <pc:spChg chg="add del 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7:10.911" v="113" actId="107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3:55:42.963" v="107" actId="207"/>
          <ac:spMkLst>
            <pc:docMk/>
            <pc:sldMk cId="0" sldId="262"/>
            <ac:spMk id="59" creationId="{04E68442-F551-E823-01F0-1391A5F8B3D2}"/>
          </ac:spMkLst>
        </pc:spChg>
        <pc:spChg chg="mod">
          <ac:chgData name="Andrea De Vicente Grau" userId="46183348-2291-47f1-aa1b-165cff0984cd" providerId="ADAL" clId="{A482A47D-0B28-4887-A040-A04402978156}" dt="2026-09-30T13:56:00.682" v="110" actId="207"/>
          <ac:spMkLst>
            <pc:docMk/>
            <pc:sldMk cId="0" sldId="262"/>
            <ac:spMk id="60" creationId="{6891ECE9-B6D6-B48C-0B72-EA42B85AB433}"/>
          </ac:spMkLst>
        </pc:spChg>
        <pc:grpChg chg="add mod">
          <ac:chgData name="Andrea De Vicente Grau" userId="46183348-2291-47f1-aa1b-165cff0984cd" providerId="ADAL" clId="{A482A47D-0B28-4887-A040-A04402978156}" dt="2026-09-30T13:57:10.911" v="113" actId="1076"/>
          <ac:grpSpMkLst>
            <pc:docMk/>
            <pc:sldMk cId="0" sldId="262"/>
            <ac:grpSpMk id="53" creationId="{D8DA477B-6289-7499-9C52-CBD3E3E933EE}"/>
          </ac:grpSpMkLst>
        </pc:grpChg>
        <pc:grpChg chg="add mod">
          <ac:chgData name="Andrea De Vicente Grau" userId="46183348-2291-47f1-aa1b-165cff0984cd" providerId="ADAL" clId="{A482A47D-0B28-4887-A040-A04402978156}" dt="2026-09-30T15:50:37.209" v="255" actId="207"/>
          <ac:grpSpMkLst>
            <pc:docMk/>
            <pc:sldMk cId="0" sldId="262"/>
            <ac:grpSpMk id="54" creationId="{B816E05F-5F55-7DA0-B12C-FF5F9B02FDFC}"/>
          </ac:grpSpMkLst>
        </pc:grpChg>
        <pc:grpChg chg="add mod">
          <ac:chgData name="Andrea De Vicente Grau" userId="46183348-2291-47f1-aa1b-165cff0984cd" providerId="ADAL" clId="{A482A47D-0B28-4887-A040-A04402978156}" dt="2026-09-30T13:52:38.104" v="68" actId="12788"/>
          <ac:grpSpMkLst>
            <pc:docMk/>
            <pc:sldMk cId="0" sldId="262"/>
            <ac:grpSpMk id="55" creationId="{420C8353-312A-863F-7199-31EE657EE896}"/>
          </ac:grpSpMkLst>
        </pc:grpChg>
        <pc:grpChg chg="add mod">
          <ac:chgData name="Andrea De Vicente Grau" userId="46183348-2291-47f1-aa1b-165cff0984cd" providerId="ADAL" clId="{A482A47D-0B28-4887-A040-A04402978156}" dt="2026-09-30T13:57:10.911" v="113" actId="1076"/>
          <ac:grpSpMkLst>
            <pc:docMk/>
            <pc:sldMk cId="0" sldId="262"/>
            <ac:grpSpMk id="56" creationId="{0A6F5394-26D6-1583-6FF2-EF523C107938}"/>
          </ac:grpSpMkLst>
        </pc:grpChg>
        <pc:grpChg chg="add mod">
          <ac:chgData name="Andrea De Vicente Grau" userId="46183348-2291-47f1-aa1b-165cff0984cd" providerId="ADAL" clId="{A482A47D-0B28-4887-A040-A04402978156}" dt="2026-09-30T13:57:10.911" v="113" actId="1076"/>
          <ac:grpSpMkLst>
            <pc:docMk/>
            <pc:sldMk cId="0" sldId="262"/>
            <ac:grpSpMk id="57" creationId="{A8ADB9EF-DDDE-3AB7-102D-C547F5275A86}"/>
          </ac:grpSpMkLst>
        </pc:grpChg>
        <pc:grpChg chg="add mod">
          <ac:chgData name="Andrea De Vicente Grau" userId="46183348-2291-47f1-aa1b-165cff0984cd" providerId="ADAL" clId="{A482A47D-0B28-4887-A040-A04402978156}" dt="2026-09-30T13:55:42.963" v="107" actId="207"/>
          <ac:grpSpMkLst>
            <pc:docMk/>
            <pc:sldMk cId="0" sldId="262"/>
            <ac:grpSpMk id="58" creationId="{0A5A8332-55B8-1323-DC23-0012D58F590E}"/>
          </ac:grpSpMkLst>
        </pc:grpChg>
      </pc:sldChg>
      <pc:sldChg chg="addSp delSp modSp mod">
        <pc:chgData name="Andrea De Vicente Grau" userId="46183348-2291-47f1-aa1b-165cff0984cd" providerId="ADAL" clId="{A482A47D-0B28-4887-A040-A04402978156}" dt="2026-09-30T14:54:15.600" v="237" actId="1076"/>
        <pc:sldMkLst>
          <pc:docMk/>
          <pc:sldMk cId="0" sldId="263"/>
        </pc:sldMkLst>
        <pc:spChg chg="del">
          <ac:chgData name="Andrea De Vicente Grau" userId="46183348-2291-47f1-aa1b-165cff0984cd" providerId="ADAL" clId="{A482A47D-0B28-4887-A040-A04402978156}" dt="2026-09-30T14:53:54.807" v="235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30T14:54:04.791" v="236" actId="1076"/>
          <ac:spMkLst>
            <pc:docMk/>
            <pc:sldMk cId="0" sldId="263"/>
            <ac:spMk id="4" creationId="{00000000-0000-0000-0000-000000000000}"/>
          </ac:spMkLst>
        </pc:spChg>
        <pc:spChg chg="mod topLvl">
          <ac:chgData name="Andrea De Vicente Grau" userId="46183348-2291-47f1-aa1b-165cff0984cd" providerId="ADAL" clId="{A482A47D-0B28-4887-A040-A04402978156}" dt="2026-09-30T14:54:15.600" v="237" actId="1076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Andrea De Vicente Grau" userId="46183348-2291-47f1-aa1b-165cff0984cd" providerId="ADAL" clId="{A482A47D-0B28-4887-A040-A04402978156}" dt="2026-09-30T14:54:15.600" v="237" actId="1076"/>
          <ac:spMkLst>
            <pc:docMk/>
            <pc:sldMk cId="0" sldId="263"/>
            <ac:spMk id="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30T14:47:22.152" v="173" actId="478"/>
          <ac:spMkLst>
            <pc:docMk/>
            <pc:sldMk cId="0" sldId="263"/>
            <ac:spMk id="22" creationId="{00000000-0000-0000-0000-000000000000}"/>
          </ac:spMkLst>
        </pc:spChg>
        <pc:grpChg chg="add del mod">
          <ac:chgData name="Andrea De Vicente Grau" userId="46183348-2291-47f1-aa1b-165cff0984cd" providerId="ADAL" clId="{A482A47D-0B28-4887-A040-A04402978156}" dt="2026-09-30T14:48:22.299" v="212" actId="165"/>
          <ac:grpSpMkLst>
            <pc:docMk/>
            <pc:sldMk cId="0" sldId="263"/>
            <ac:grpSpMk id="26" creationId="{90C8FF10-E5F3-4B49-1750-D8341879553C}"/>
          </ac:grpSpMkLst>
        </pc:grpChg>
        <pc:picChg chg="del">
          <ac:chgData name="Andrea De Vicente Grau" userId="46183348-2291-47f1-aa1b-165cff0984cd" providerId="ADAL" clId="{A482A47D-0B28-4887-A040-A04402978156}" dt="2026-09-30T14:51:23.146" v="230" actId="478"/>
          <ac:picMkLst>
            <pc:docMk/>
            <pc:sldMk cId="0" sldId="263"/>
            <ac:picMk id="5" creationId="{00000000-0000-0000-0000-000000000000}"/>
          </ac:picMkLst>
        </pc:picChg>
        <pc:picChg chg="add del mod">
          <ac:chgData name="Andrea De Vicente Grau" userId="46183348-2291-47f1-aa1b-165cff0984cd" providerId="ADAL" clId="{A482A47D-0B28-4887-A040-A04402978156}" dt="2026-09-30T14:49:41.610" v="217" actId="478"/>
          <ac:picMkLst>
            <pc:docMk/>
            <pc:sldMk cId="0" sldId="263"/>
            <ac:picMk id="28" creationId="{235150A2-9D0B-74BF-C61B-66255DC45DD6}"/>
          </ac:picMkLst>
        </pc:picChg>
        <pc:picChg chg="add mod">
          <ac:chgData name="Andrea De Vicente Grau" userId="46183348-2291-47f1-aa1b-165cff0984cd" providerId="ADAL" clId="{A482A47D-0B28-4887-A040-A04402978156}" dt="2026-09-30T14:54:15.600" v="237" actId="1076"/>
          <ac:picMkLst>
            <pc:docMk/>
            <pc:sldMk cId="0" sldId="263"/>
            <ac:picMk id="30" creationId="{B7DCB348-D86F-3FB1-A2DC-DB7460D97B8F}"/>
          </ac:picMkLst>
        </pc:picChg>
        <pc:picChg chg="add mod">
          <ac:chgData name="Andrea De Vicente Grau" userId="46183348-2291-47f1-aa1b-165cff0984cd" providerId="ADAL" clId="{A482A47D-0B28-4887-A040-A04402978156}" dt="2026-09-30T14:54:04.791" v="236" actId="1076"/>
          <ac:picMkLst>
            <pc:docMk/>
            <pc:sldMk cId="0" sldId="263"/>
            <ac:picMk id="32" creationId="{A84602C0-9896-32FE-172D-7095F8C2C5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“Este miniproyecto analiza el rendimiento de un e-commerce a partir de ventas, clientes, productos y pagos. El objetivo no es solo describir qué ocurrió, sino convertir el dashboard en una historia de negocio con decisiones concretas.”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“El dataset procede de Kaggle y se estructura en pedidos, clientes, productos y pagos. Construí una dimensión calendario para analizar el tiempo. La pregunta central es qué impulsa los ingresos y dónde actuar. El alcance es descriptivo: analizo ventas, clientes y productos, pero no puedo medir rentabilidad real porque no hay costes, ni atribuir causalidad porque no hay datos de marketing.”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“El proceso empezó importando cuatro CSV. Después construí un modelo estrella con Fact_Orders como tabla central, dimensiones de clientes, productos y pagos, y una Dim_Calendar para el análisis temporal. Añadí columnas calculadas como grupos de edad y revenue, y centralicé las medidas en _Measures. Finalmente diseñé tres páginas con una narrativa de lo general a lo específico: overview, clientes y productos.”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“El dashboard ejecutivo muestra 366,35 millones de revenue, 50.000 pedidos y un ticket medio de 7.330 dólares. El crecimiento calculado es 58,44%. Sin embargo, el gráfico temporal incorpora una alerta: tras un comportamiento estable durante 2024 y 2025, el revenue cae claramente al inicio de 2026. La lectura no debe ser solo celebrar el crecimiento acumulado, sino entender qué parte del negocio explica esa caída reciente.”
Nota: las cifras proceden de las medidas y visuales del dashboard aportado por la autora.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“Electronics es la categoría dominante: genera 186,16 millones, aproximadamente el 50,8% del revenue total. Headphones lidera a nivel producto con 35 millones. Esto ofrece una palanca clara para campañas y disponibilidad de stock, pero también revela concentración. El scatter de descuentos y revenue sugiere una relación positiva, aunque con estos datos no podemos afirmar que el descuento sea la causa del aumento.”
Fuente de cifras: dashboard de Product Performance aportado por la autora.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“En clientes vemos otra concentración. El segmento Regular genera alrededor de 0,20 billones y el grupo 55+ concentra aproximadamente 0,36 billones. Además, Tehran aparece como la ciudad con mayor número de clientes, con 2.803. La implicación es doble: adaptar mensajes y experiencia al cliente maduro, y diseñar una estrategia específica para convertir mejor a los segmentos New y VIP.”
Fuente de cifras: dashboard de Customer Performance aportado por la autora.
[Sources]
- https://www.kaggle.com/datasets/erfan4524/e-commerce-sales-data-analysis-and-eda?resource=download&amp;select=clean_final_data.csv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“Propongo tres acciones. Primero, diagnosticar la caída de 2026 con el propio dashboard y sus filtros. Segundo, proteger Electronics y Headphones, pero utilizar esa fortaleza para impulsar categorías secundarias y reducir dependencia. Tercero, segmentar la propuesta: mensajes y experiencia para 55+, activación para New y una revisión específica de la propuesta VIP. Cada acción tiene un owner y un horizonte para facilitar seguimiento.”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“En la demo empezaré por la página ejecutiva. Mostraré los KPIs y la evolución temporal, y utilizaré los slicers para comprobar cómo cambian los resultados por año, categoría, ciudad y segmento. Después navegaré brevemente a Customer Performance para mostrar la concentración en Regular y 55+, y cerraré en Product Performance con Electronics y Headphones. La idea es demostrar interactividad, no repetir todo el deck.”
Nota: captura del dashboard aportada por la autora.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
“Como cierre, el análisis deja tres mensajes: diagnosticar la caída del periodo más reciente, proteger la fortaleza de Electronics sin incrementar la concentración, y segmentar la propuesta comercial según cliente y edad. Con esto termino la presentación y paso a preguntas.”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E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9682D"/>
          </a:solidFill>
          <a:ln w="12700">
            <a:solidFill>
              <a:srgbClr val="E968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E96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ANALYSIS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B6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Kaggle, E-Commerce Sales Data Analysis &amp; EDA | 30 Sep 2026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9418320" y="65653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B6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Andrea De Vicente Grau</a:t>
            </a: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ey.com/:u:/r/personal/andrea_de_vicente_grau_es_ey_com/Documents/Desktop/Ironhack%202026%20PC/Parte%203_Power%20BI/D%C3%ADa%2016_PB/D%C3%ADa%2016_PB%20Miniproyecto_ADV.pbix?d=w68485cd740aa4bd0974061be7fc23684&amp;csf=1&amp;web=1&amp;e=HRIay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4"/>
          </a:solidFill>
          <a:ln w="12700">
            <a:solidFill>
              <a:srgbClr val="FFF8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9682D"/>
          </a:solidFill>
          <a:ln w="12700">
            <a:solidFill>
              <a:srgbClr val="E968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 rot="1200000">
            <a:off x="2514600" y="685800"/>
            <a:ext cx="3566160" cy="3566160"/>
          </a:xfrm>
          <a:prstGeom prst="arc">
            <a:avLst/>
          </a:prstGeom>
          <a:solidFill>
            <a:srgbClr val="EFC4AE">
              <a:alpha val="92000"/>
            </a:srgbClr>
          </a:solidFill>
          <a:ln w="12700">
            <a:solidFill>
              <a:srgbClr val="EFC4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 rot="12600000">
            <a:off x="1965960" y="3749040"/>
            <a:ext cx="2743200" cy="2743200"/>
          </a:xfrm>
          <a:prstGeom prst="arc">
            <a:avLst/>
          </a:prstGeom>
          <a:solidFill>
            <a:srgbClr val="9A431F">
              <a:alpha val="90000"/>
            </a:srgbClr>
          </a:solidFill>
          <a:ln w="12700">
            <a:solidFill>
              <a:srgbClr val="9A43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FFFFFF"/>
                </a:solidFill>
              </a:rPr>
              <a:t>POWER BI MINI PROJECT</a:t>
            </a:r>
          </a:p>
          <a:p>
            <a:pPr marL="0" indent="0">
              <a:buNone/>
            </a:pPr>
            <a:r>
              <a:rPr lang="en-US" sz="1100" b="1" kern="0" spc="160" dirty="0">
                <a:solidFill>
                  <a:srgbClr val="FFFFFF"/>
                </a:solidFill>
              </a:rPr>
              <a:t>IRONHACK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170432"/>
            <a:ext cx="6858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E-Commerce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34840" y="37033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682D"/>
                </a:solidFill>
              </a:rPr>
              <a:t>¿Qué impulsa los ingresos y dónde están las principales oportunidades de crecimiento?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5650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D"/>
                </a:solidFill>
              </a:rPr>
              <a:t>Andrea De Vicente Grau  |  30 septiembre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5989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25D"/>
                </a:solidFill>
              </a:rPr>
              <a:t>Análisis descriptivo, KPIs, insights y dashboard interactivo</a:t>
            </a:r>
            <a:endParaRPr lang="en-US" sz="1000" dirty="0"/>
          </a:p>
        </p:txBody>
      </p:sp>
      <p:pic>
        <p:nvPicPr>
          <p:cNvPr id="15" name="Picture 14" descr="Ey logo - Social media &amp; Logos Icons">
            <a:extLst>
              <a:ext uri="{FF2B5EF4-FFF2-40B4-BE49-F238E27FC236}">
                <a16:creationId xmlns:a16="http://schemas.microsoft.com/office/drawing/2014/main" id="{47861A83-A0CB-3C1E-8B99-E67C0FDFB7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Datos, pregunta y alcance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Un modelo sencillo para responder preguntas de negocio con claridad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9682D"/>
                </a:solidFill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A2A20"/>
                </a:solidFill>
              </a:rPr>
              <a:t>E-Commerce Sales Data Analysis &amp; EDA (24-26)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431F"/>
                </a:solidFill>
              </a:rPr>
              <a:t>4 tablas analíticas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96112" y="318211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31F"/>
                </a:solidFill>
              </a:rPr>
              <a:t>Fact_Orders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3108960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313432" y="318211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31F"/>
                </a:solidFill>
              </a:rPr>
              <a:t>Dim_Customers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</p:spPr>
        <p:txBody>
          <a:bodyPr/>
          <a:lstStyle/>
          <a:p>
            <a:endParaRPr lang="es-ES" sz="120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31F"/>
                </a:solidFill>
              </a:rPr>
              <a:t>Dim_Products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584448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</p:spPr>
        <p:txBody>
          <a:bodyPr/>
          <a:lstStyle/>
          <a:p>
            <a:endParaRPr lang="es-ES" sz="1200"/>
          </a:p>
        </p:txBody>
      </p:sp>
      <p:sp>
        <p:nvSpPr>
          <p:cNvPr id="15" name="Text 13"/>
          <p:cNvSpPr/>
          <p:nvPr/>
        </p:nvSpPr>
        <p:spPr>
          <a:xfrm>
            <a:off x="2313432" y="36576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31F"/>
                </a:solidFill>
              </a:rPr>
              <a:t>Dim_Payments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33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>
                    <a:lumMod val="75000"/>
                  </a:schemeClr>
                </a:solidFill>
              </a:rPr>
              <a:t>Dim_Calendar </a:t>
            </a:r>
            <a:r>
              <a:rPr lang="en-US" sz="1150" dirty="0">
                <a:solidFill>
                  <a:srgbClr val="6E625D"/>
                </a:solidFill>
              </a:rPr>
              <a:t>completa el modelo temporal y </a:t>
            </a:r>
            <a:r>
              <a:rPr lang="en-US" sz="1150" b="1" dirty="0">
                <a:solidFill>
                  <a:schemeClr val="accent2">
                    <a:lumMod val="75000"/>
                  </a:schemeClr>
                </a:solidFill>
              </a:rPr>
              <a:t>_Measures </a:t>
            </a:r>
            <a:r>
              <a:rPr lang="en-US" sz="1150" dirty="0">
                <a:solidFill>
                  <a:srgbClr val="6E625D"/>
                </a:solidFill>
              </a:rPr>
              <a:t>centraliza los KPIs.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25D"/>
                </a:solidFill>
              </a:rPr>
              <a:t>Fuente pública de </a:t>
            </a:r>
            <a:r>
              <a:rPr lang="en-US" sz="950" b="1" i="1" dirty="0">
                <a:solidFill>
                  <a:schemeClr val="accent2">
                    <a:lumMod val="75000"/>
                  </a:schemeClr>
                </a:solidFill>
              </a:rPr>
              <a:t>Kaggle 2026</a:t>
            </a:r>
            <a:r>
              <a:rPr lang="en-US" sz="950" i="1" dirty="0">
                <a:solidFill>
                  <a:srgbClr val="6E625D"/>
                </a:solidFill>
              </a:rPr>
              <a:t>. Datos preparados para análisis exploratorio y dashboards.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98848" y="1325880"/>
            <a:ext cx="7132320" cy="1920240"/>
          </a:xfrm>
          <a:prstGeom prst="roundRect">
            <a:avLst>
              <a:gd name="adj" fmla="val 3810"/>
            </a:avLst>
          </a:prstGeom>
          <a:solidFill>
            <a:srgbClr val="E9682D"/>
          </a:solidFill>
          <a:ln w="12700">
            <a:solidFill>
              <a:srgbClr val="E9682D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FFFF"/>
                </a:solidFill>
              </a:rPr>
              <a:t>GRAN PREGUNTA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965960"/>
            <a:ext cx="6217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" sz="2300" b="1" dirty="0">
                <a:solidFill>
                  <a:srgbClr val="FFFFFF"/>
                </a:solidFill>
              </a:rPr>
              <a:t>¿Qué impulsa los ingresos y dónde están las principales oportunidades de crecimiento?</a:t>
            </a:r>
          </a:p>
        </p:txBody>
      </p:sp>
      <p:sp>
        <p:nvSpPr>
          <p:cNvPr id="21" name="Shape 19"/>
          <p:cNvSpPr/>
          <p:nvPr/>
        </p:nvSpPr>
        <p:spPr>
          <a:xfrm>
            <a:off x="4498848" y="3456432"/>
            <a:ext cx="340156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54880" y="37124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F7D6B"/>
                </a:solidFill>
              </a:rPr>
              <a:t>INCLUYE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041648"/>
            <a:ext cx="27889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00" dirty="0">
                <a:solidFill>
                  <a:srgbClr val="4A2A20"/>
                </a:solidFill>
              </a:rPr>
              <a:t>• Ingresos y evolución temporal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Categorías y productos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Segmentos, edades y ciudades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Métodos y estados de pago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456432"/>
            <a:ext cx="349300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394192" y="3712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94E2E"/>
                </a:solidFill>
              </a:rPr>
              <a:t>NO INCLUYE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94192" y="4041648"/>
            <a:ext cx="27889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00" dirty="0">
                <a:solidFill>
                  <a:srgbClr val="4A2A20"/>
                </a:solidFill>
              </a:rPr>
              <a:t>• Costes y margen real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Marketing o tráfico web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Devoluciones detalladas</a:t>
            </a:r>
            <a:endParaRPr lang="en-US" sz="1200" dirty="0"/>
          </a:p>
          <a:p>
            <a:r>
              <a:rPr lang="en-US" sz="1200" dirty="0">
                <a:solidFill>
                  <a:srgbClr val="4A2A20"/>
                </a:solidFill>
              </a:rPr>
              <a:t>• Predicción causal o forecast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9" name="Picture 28" descr="Ey logo - Social media &amp; Logos Icons">
            <a:extLst>
              <a:ext uri="{FF2B5EF4-FFF2-40B4-BE49-F238E27FC236}">
                <a16:creationId xmlns:a16="http://schemas.microsoft.com/office/drawing/2014/main" id="{0E11FA93-E079-285C-F1FB-DC3D22A1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97F5D45-0232-3C49-9ECE-E5F74B673A73}"/>
              </a:ext>
            </a:extLst>
          </p:cNvPr>
          <p:cNvGrpSpPr/>
          <p:nvPr/>
        </p:nvGrpSpPr>
        <p:grpSpPr>
          <a:xfrm>
            <a:off x="10311542" y="1171186"/>
            <a:ext cx="1540764" cy="499784"/>
            <a:chOff x="4892040" y="1325880"/>
            <a:chExt cx="1965960" cy="960120"/>
          </a:xfrm>
        </p:grpSpPr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1EDE1493-4E6D-DB18-3B4E-6163FD9F0D0F}"/>
                </a:ext>
              </a:extLst>
            </p:cNvPr>
            <p:cNvSpPr/>
            <p:nvPr/>
          </p:nvSpPr>
          <p:spPr>
            <a:xfrm>
              <a:off x="4892040" y="1325880"/>
              <a:ext cx="196596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2700">
              <a:solidFill>
                <a:srgbClr val="E9682D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2037B796-039C-830C-2F06-46BEBFF3F6BF}"/>
                </a:ext>
              </a:extLst>
            </p:cNvPr>
            <p:cNvSpPr/>
            <p:nvPr/>
          </p:nvSpPr>
          <p:spPr>
            <a:xfrm>
              <a:off x="5001768" y="1511037"/>
              <a:ext cx="1746504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E625D"/>
                  </a:solidFill>
                </a:rPr>
                <a:t>TOTAL ORDERS</a:t>
              </a:r>
              <a:endParaRPr lang="en-US" sz="850" dirty="0"/>
            </a:p>
          </p:txBody>
        </p:sp>
        <p:sp>
          <p:nvSpPr>
            <p:cNvPr id="35" name="Text 10">
              <a:extLst>
                <a:ext uri="{FF2B5EF4-FFF2-40B4-BE49-F238E27FC236}">
                  <a16:creationId xmlns:a16="http://schemas.microsoft.com/office/drawing/2014/main" id="{D131250F-1932-8059-4BCF-CC22E8B3419F}"/>
                </a:ext>
              </a:extLst>
            </p:cNvPr>
            <p:cNvSpPr/>
            <p:nvPr/>
          </p:nvSpPr>
          <p:spPr>
            <a:xfrm>
              <a:off x="4983479" y="1776213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9682D"/>
                  </a:solidFill>
                </a:rPr>
                <a:t>50K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</a:t>
            </a: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Del dataset a una experiencia interactiva en Power BI</a:t>
            </a:r>
            <a:endParaRPr lang="en-US" sz="115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EA2C89-832B-8AB3-FEBF-F034667B67CB}"/>
              </a:ext>
            </a:extLst>
          </p:cNvPr>
          <p:cNvGrpSpPr/>
          <p:nvPr/>
        </p:nvGrpSpPr>
        <p:grpSpPr>
          <a:xfrm>
            <a:off x="826315" y="1542058"/>
            <a:ext cx="502920" cy="502920"/>
            <a:chOff x="713232" y="1371600"/>
            <a:chExt cx="502920" cy="502920"/>
          </a:xfrm>
        </p:grpSpPr>
        <p:sp>
          <p:nvSpPr>
            <p:cNvPr id="4" name="Shape 2"/>
            <p:cNvSpPr/>
            <p:nvPr/>
          </p:nvSpPr>
          <p:spPr>
            <a:xfrm>
              <a:off x="713232" y="1371600"/>
              <a:ext cx="502920" cy="502920"/>
            </a:xfrm>
            <a:prstGeom prst="ellipse">
              <a:avLst/>
            </a:prstGeom>
            <a:solidFill>
              <a:srgbClr val="EFC4AE"/>
            </a:solidFill>
            <a:ln w="12700">
              <a:solidFill>
                <a:srgbClr val="EFC4AE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 3"/>
            <p:cNvSpPr/>
            <p:nvPr/>
          </p:nvSpPr>
          <p:spPr>
            <a:xfrm>
              <a:off x="713232" y="1524805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A431F"/>
                  </a:solidFill>
                </a:rPr>
                <a:t>1</a:t>
              </a:r>
              <a:endParaRPr lang="en-US" sz="1100" dirty="0"/>
            </a:p>
          </p:txBody>
        </p:sp>
      </p:grpSp>
      <p:sp>
        <p:nvSpPr>
          <p:cNvPr id="6" name="Shape 4"/>
          <p:cNvSpPr/>
          <p:nvPr/>
        </p:nvSpPr>
        <p:spPr>
          <a:xfrm>
            <a:off x="1077775" y="2021945"/>
            <a:ext cx="0" cy="388793"/>
          </a:xfrm>
          <a:prstGeom prst="line">
            <a:avLst/>
          </a:prstGeom>
          <a:noFill/>
          <a:ln w="25400">
            <a:solidFill>
              <a:srgbClr val="D7A0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552961" y="153291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Seleccionar e importar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2961" y="184381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CSV de customers, orders, products y payments</a:t>
            </a:r>
            <a:endParaRPr lang="en-US" sz="105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5D33609-156B-D933-07CC-2AC66AB485CD}"/>
              </a:ext>
            </a:extLst>
          </p:cNvPr>
          <p:cNvGrpSpPr/>
          <p:nvPr/>
        </p:nvGrpSpPr>
        <p:grpSpPr>
          <a:xfrm>
            <a:off x="826315" y="2410738"/>
            <a:ext cx="502920" cy="502920"/>
            <a:chOff x="713232" y="2240280"/>
            <a:chExt cx="502920" cy="502920"/>
          </a:xfrm>
        </p:grpSpPr>
        <p:sp>
          <p:nvSpPr>
            <p:cNvPr id="9" name="Shape 7"/>
            <p:cNvSpPr/>
            <p:nvPr/>
          </p:nvSpPr>
          <p:spPr>
            <a:xfrm>
              <a:off x="713232" y="2240280"/>
              <a:ext cx="502920" cy="502920"/>
            </a:xfrm>
            <a:prstGeom prst="ellipse">
              <a:avLst/>
            </a:prstGeom>
            <a:solidFill>
              <a:srgbClr val="EFC4AE"/>
            </a:solidFill>
            <a:ln w="12700">
              <a:solidFill>
                <a:srgbClr val="EFC4AE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 8"/>
            <p:cNvSpPr/>
            <p:nvPr/>
          </p:nvSpPr>
          <p:spPr>
            <a:xfrm>
              <a:off x="713232" y="2395728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A431F"/>
                  </a:solidFill>
                </a:rPr>
                <a:t>2</a:t>
              </a:r>
              <a:endParaRPr lang="en-US" sz="11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1077775" y="2913658"/>
            <a:ext cx="1" cy="365760"/>
          </a:xfrm>
          <a:prstGeom prst="line">
            <a:avLst/>
          </a:prstGeom>
          <a:noFill/>
          <a:ln w="25400">
            <a:solidFill>
              <a:srgbClr val="D7A0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52961" y="240159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Diseñar star schema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2961" y="271249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Fact_Orders conectada a dimensiones con relaciones 1:*</a:t>
            </a:r>
            <a:endParaRPr lang="en-US" sz="10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860B520-D65E-D9C9-995E-C855B10A5019}"/>
              </a:ext>
            </a:extLst>
          </p:cNvPr>
          <p:cNvGrpSpPr/>
          <p:nvPr/>
        </p:nvGrpSpPr>
        <p:grpSpPr>
          <a:xfrm>
            <a:off x="821441" y="3279418"/>
            <a:ext cx="512669" cy="502920"/>
            <a:chOff x="713232" y="3108960"/>
            <a:chExt cx="512669" cy="502920"/>
          </a:xfrm>
        </p:grpSpPr>
        <p:sp>
          <p:nvSpPr>
            <p:cNvPr id="14" name="Shape 12"/>
            <p:cNvSpPr/>
            <p:nvPr/>
          </p:nvSpPr>
          <p:spPr>
            <a:xfrm>
              <a:off x="713232" y="3108960"/>
              <a:ext cx="502920" cy="502920"/>
            </a:xfrm>
            <a:prstGeom prst="ellipse">
              <a:avLst/>
            </a:prstGeom>
            <a:solidFill>
              <a:srgbClr val="EFC4AE"/>
            </a:solidFill>
            <a:ln w="12700">
              <a:solidFill>
                <a:srgbClr val="EFC4AE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 13"/>
            <p:cNvSpPr/>
            <p:nvPr/>
          </p:nvSpPr>
          <p:spPr>
            <a:xfrm>
              <a:off x="722981" y="3277951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A431F"/>
                  </a:solidFill>
                </a:rPr>
                <a:t>3</a:t>
              </a:r>
              <a:endParaRPr lang="en-US" sz="11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1077775" y="3782338"/>
            <a:ext cx="1" cy="365760"/>
          </a:xfrm>
          <a:prstGeom prst="line">
            <a:avLst/>
          </a:prstGeom>
          <a:noFill/>
          <a:ln w="25400">
            <a:solidFill>
              <a:srgbClr val="D7A0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552961" y="327027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Enriquecer el modelo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2961" y="358117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Dim_Calendar, Age Group y columnas de revenue</a:t>
            </a:r>
            <a:endParaRPr lang="en-US" sz="10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62FAAA-A7EF-7BC5-818F-7B7F8ED99544}"/>
              </a:ext>
            </a:extLst>
          </p:cNvPr>
          <p:cNvGrpSpPr/>
          <p:nvPr/>
        </p:nvGrpSpPr>
        <p:grpSpPr>
          <a:xfrm>
            <a:off x="826315" y="4148098"/>
            <a:ext cx="502920" cy="502920"/>
            <a:chOff x="713232" y="3977640"/>
            <a:chExt cx="502920" cy="502920"/>
          </a:xfrm>
        </p:grpSpPr>
        <p:sp>
          <p:nvSpPr>
            <p:cNvPr id="19" name="Shape 17"/>
            <p:cNvSpPr/>
            <p:nvPr/>
          </p:nvSpPr>
          <p:spPr>
            <a:xfrm>
              <a:off x="713232" y="3977640"/>
              <a:ext cx="502920" cy="502920"/>
            </a:xfrm>
            <a:prstGeom prst="ellipse">
              <a:avLst/>
            </a:prstGeom>
            <a:solidFill>
              <a:srgbClr val="EFC4AE"/>
            </a:solidFill>
            <a:ln w="12700">
              <a:solidFill>
                <a:srgbClr val="EFC4AE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18"/>
            <p:cNvSpPr/>
            <p:nvPr/>
          </p:nvSpPr>
          <p:spPr>
            <a:xfrm>
              <a:off x="713232" y="4128689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A431F"/>
                  </a:solidFill>
                </a:rPr>
                <a:t>4</a:t>
              </a:r>
              <a:endParaRPr lang="en-US" sz="110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1077775" y="4651018"/>
            <a:ext cx="1" cy="365760"/>
          </a:xfrm>
          <a:prstGeom prst="line">
            <a:avLst/>
          </a:prstGeom>
          <a:noFill/>
          <a:ln w="25400">
            <a:solidFill>
              <a:srgbClr val="D7A0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552961" y="413895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Crear medidas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2961" y="444985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Revenue, pedidos, clientes, AOV, growth y rankings</a:t>
            </a:r>
            <a:endParaRPr lang="en-US" sz="10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3C51CE-E0F0-86EC-5F8F-FB91F1687985}"/>
              </a:ext>
            </a:extLst>
          </p:cNvPr>
          <p:cNvGrpSpPr/>
          <p:nvPr/>
        </p:nvGrpSpPr>
        <p:grpSpPr>
          <a:xfrm>
            <a:off x="826315" y="5016778"/>
            <a:ext cx="502920" cy="502920"/>
            <a:chOff x="713232" y="4846320"/>
            <a:chExt cx="502920" cy="502920"/>
          </a:xfrm>
        </p:grpSpPr>
        <p:sp>
          <p:nvSpPr>
            <p:cNvPr id="24" name="Shape 22"/>
            <p:cNvSpPr/>
            <p:nvPr/>
          </p:nvSpPr>
          <p:spPr>
            <a:xfrm>
              <a:off x="713232" y="4846320"/>
              <a:ext cx="502920" cy="502920"/>
            </a:xfrm>
            <a:prstGeom prst="ellipse">
              <a:avLst/>
            </a:prstGeom>
            <a:solidFill>
              <a:srgbClr val="E9682D"/>
            </a:solidFill>
            <a:ln w="12700">
              <a:solidFill>
                <a:srgbClr val="E9682D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 23"/>
            <p:cNvSpPr/>
            <p:nvPr/>
          </p:nvSpPr>
          <p:spPr>
            <a:xfrm>
              <a:off x="713232" y="5006340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5</a:t>
              </a:r>
              <a:endParaRPr lang="en-US" sz="110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1552961" y="500763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Visualizar y analizar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2961" y="531853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Tres páginas, filtros, cards y drill-down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5589" y="1304483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203061" y="1624523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9682D"/>
                </a:solidFill>
              </a:rPr>
              <a:t>STAR SCHEMA</a:t>
            </a:r>
            <a:endParaRPr lang="en-US" sz="10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816E05F-5F55-7DA0-B12C-FF5F9B02FDFC}"/>
              </a:ext>
            </a:extLst>
          </p:cNvPr>
          <p:cNvGrpSpPr/>
          <p:nvPr/>
        </p:nvGrpSpPr>
        <p:grpSpPr>
          <a:xfrm>
            <a:off x="7756398" y="2036003"/>
            <a:ext cx="1280160" cy="566928"/>
            <a:chOff x="8321040" y="2148840"/>
            <a:chExt cx="1508760" cy="56692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0" name="Shape 28"/>
            <p:cNvSpPr/>
            <p:nvPr/>
          </p:nvSpPr>
          <p:spPr>
            <a:xfrm>
              <a:off x="8321040" y="2148840"/>
              <a:ext cx="1508760" cy="566928"/>
            </a:xfrm>
            <a:prstGeom prst="roundRect">
              <a:avLst>
                <a:gd name="adj" fmla="val 11290"/>
              </a:avLst>
            </a:prstGeom>
            <a:grpFill/>
            <a:ln w="12700">
              <a:solidFill>
                <a:srgbClr val="D8A38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 29"/>
            <p:cNvSpPr/>
            <p:nvPr/>
          </p:nvSpPr>
          <p:spPr>
            <a:xfrm>
              <a:off x="8394192" y="2340864"/>
              <a:ext cx="1362456" cy="1828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2A20"/>
                  </a:solidFill>
                </a:rPr>
                <a:t>Dim_Calendar</a:t>
              </a:r>
              <a:endParaRPr lang="en-US" sz="10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8DA477B-6289-7499-9C52-CBD3E3E933EE}"/>
              </a:ext>
            </a:extLst>
          </p:cNvPr>
          <p:cNvGrpSpPr/>
          <p:nvPr/>
        </p:nvGrpSpPr>
        <p:grpSpPr>
          <a:xfrm>
            <a:off x="6001893" y="3163474"/>
            <a:ext cx="1280160" cy="566928"/>
            <a:chOff x="6638544" y="3246120"/>
            <a:chExt cx="1453896" cy="566928"/>
          </a:xfrm>
        </p:grpSpPr>
        <p:sp>
          <p:nvSpPr>
            <p:cNvPr id="32" name="Shape 30"/>
            <p:cNvSpPr/>
            <p:nvPr/>
          </p:nvSpPr>
          <p:spPr>
            <a:xfrm>
              <a:off x="6707124" y="3246120"/>
              <a:ext cx="1316737" cy="566928"/>
            </a:xfrm>
            <a:prstGeom prst="roundRect">
              <a:avLst>
                <a:gd name="adj" fmla="val 11290"/>
              </a:avLst>
            </a:prstGeom>
            <a:solidFill>
              <a:srgbClr val="F7DDD0"/>
            </a:solidFill>
            <a:ln w="12700">
              <a:solidFill>
                <a:srgbClr val="D8A38A"/>
              </a:solidFill>
              <a:prstDash val="solid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638544" y="3438144"/>
              <a:ext cx="145389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2A20"/>
                  </a:solidFill>
                </a:rPr>
                <a:t>Dim_Customers</a:t>
              </a:r>
              <a:endParaRPr lang="en-US" sz="10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A6F5394-26D6-1583-6FF2-EF523C107938}"/>
              </a:ext>
            </a:extLst>
          </p:cNvPr>
          <p:cNvGrpSpPr/>
          <p:nvPr/>
        </p:nvGrpSpPr>
        <p:grpSpPr>
          <a:xfrm>
            <a:off x="7655814" y="3163474"/>
            <a:ext cx="1481328" cy="566928"/>
            <a:chOff x="8350758" y="3246120"/>
            <a:chExt cx="1481328" cy="566928"/>
          </a:xfrm>
        </p:grpSpPr>
        <p:sp>
          <p:nvSpPr>
            <p:cNvPr id="34" name="Shape 32"/>
            <p:cNvSpPr/>
            <p:nvPr/>
          </p:nvSpPr>
          <p:spPr>
            <a:xfrm>
              <a:off x="8350758" y="3246120"/>
              <a:ext cx="1481328" cy="566928"/>
            </a:xfrm>
            <a:prstGeom prst="roundRect">
              <a:avLst>
                <a:gd name="adj" fmla="val 11290"/>
              </a:avLst>
            </a:prstGeom>
            <a:solidFill>
              <a:srgbClr val="E9682D"/>
            </a:solidFill>
            <a:ln w="12700">
              <a:solidFill>
                <a:srgbClr val="E9682D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 33"/>
            <p:cNvSpPr/>
            <p:nvPr/>
          </p:nvSpPr>
          <p:spPr>
            <a:xfrm>
              <a:off x="8423910" y="3438144"/>
              <a:ext cx="133502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Fact_Orders</a:t>
              </a:r>
              <a:endParaRPr lang="en-US" sz="10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8ADB9EF-DDDE-3AB7-102D-C547F5275A86}"/>
              </a:ext>
            </a:extLst>
          </p:cNvPr>
          <p:cNvGrpSpPr/>
          <p:nvPr/>
        </p:nvGrpSpPr>
        <p:grpSpPr>
          <a:xfrm>
            <a:off x="9467469" y="3163474"/>
            <a:ext cx="1280160" cy="566928"/>
            <a:chOff x="10104120" y="3306502"/>
            <a:chExt cx="1280160" cy="566928"/>
          </a:xfrm>
        </p:grpSpPr>
        <p:sp>
          <p:nvSpPr>
            <p:cNvPr id="36" name="Shape 34"/>
            <p:cNvSpPr/>
            <p:nvPr/>
          </p:nvSpPr>
          <p:spPr>
            <a:xfrm>
              <a:off x="10104120" y="3306502"/>
              <a:ext cx="1280160" cy="566928"/>
            </a:xfrm>
            <a:prstGeom prst="roundRect">
              <a:avLst>
                <a:gd name="adj" fmla="val 11290"/>
              </a:avLst>
            </a:prstGeom>
            <a:solidFill>
              <a:srgbClr val="F7DDD0"/>
            </a:solidFill>
            <a:ln w="12700">
              <a:solidFill>
                <a:srgbClr val="D8A38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 35"/>
            <p:cNvSpPr/>
            <p:nvPr/>
          </p:nvSpPr>
          <p:spPr>
            <a:xfrm>
              <a:off x="10177272" y="3498526"/>
              <a:ext cx="1133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2A20"/>
                  </a:solidFill>
                </a:rPr>
                <a:t>Dim_Products</a:t>
              </a:r>
              <a:endParaRPr lang="en-US" sz="10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20C8353-312A-863F-7199-31EE657EE896}"/>
              </a:ext>
            </a:extLst>
          </p:cNvPr>
          <p:cNvGrpSpPr/>
          <p:nvPr/>
        </p:nvGrpSpPr>
        <p:grpSpPr>
          <a:xfrm>
            <a:off x="7600950" y="4328039"/>
            <a:ext cx="1591056" cy="566928"/>
            <a:chOff x="8403336" y="4389120"/>
            <a:chExt cx="1591056" cy="566928"/>
          </a:xfrm>
        </p:grpSpPr>
        <p:sp>
          <p:nvSpPr>
            <p:cNvPr id="38" name="Shape 36"/>
            <p:cNvSpPr/>
            <p:nvPr/>
          </p:nvSpPr>
          <p:spPr>
            <a:xfrm>
              <a:off x="8558784" y="4389120"/>
              <a:ext cx="1280160" cy="566928"/>
            </a:xfrm>
            <a:prstGeom prst="roundRect">
              <a:avLst>
                <a:gd name="adj" fmla="val 11290"/>
              </a:avLst>
            </a:prstGeom>
            <a:solidFill>
              <a:srgbClr val="F7DDD0"/>
            </a:solidFill>
            <a:ln w="12700">
              <a:solidFill>
                <a:srgbClr val="D8A38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 37"/>
            <p:cNvSpPr/>
            <p:nvPr/>
          </p:nvSpPr>
          <p:spPr>
            <a:xfrm>
              <a:off x="8403336" y="4581144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2A20"/>
                  </a:solidFill>
                </a:rPr>
                <a:t>Dim_Payments</a:t>
              </a:r>
              <a:endParaRPr lang="en-US" sz="1000" dirty="0"/>
            </a:p>
          </p:txBody>
        </p:sp>
      </p:grpSp>
      <p:sp>
        <p:nvSpPr>
          <p:cNvPr id="40" name="Shape 38"/>
          <p:cNvSpPr/>
          <p:nvPr/>
        </p:nvSpPr>
        <p:spPr>
          <a:xfrm flipV="1">
            <a:off x="8376314" y="2602931"/>
            <a:ext cx="0" cy="560542"/>
          </a:xfrm>
          <a:prstGeom prst="line">
            <a:avLst/>
          </a:prstGeom>
          <a:noFill/>
          <a:ln w="21590">
            <a:solidFill>
              <a:srgbClr val="9A43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 dirty="0"/>
          </a:p>
        </p:txBody>
      </p:sp>
      <p:sp>
        <p:nvSpPr>
          <p:cNvPr id="41" name="Shape 39"/>
          <p:cNvSpPr/>
          <p:nvPr/>
        </p:nvSpPr>
        <p:spPr>
          <a:xfrm rot="10800000" flipV="1">
            <a:off x="7221669" y="3431926"/>
            <a:ext cx="430716" cy="0"/>
          </a:xfrm>
          <a:prstGeom prst="line">
            <a:avLst/>
          </a:prstGeom>
          <a:noFill/>
          <a:ln w="21590">
            <a:solidFill>
              <a:srgbClr val="9A43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9137142" y="3431926"/>
            <a:ext cx="330327" cy="0"/>
          </a:xfrm>
          <a:prstGeom prst="line">
            <a:avLst/>
          </a:prstGeom>
          <a:noFill/>
          <a:ln w="21590">
            <a:solidFill>
              <a:srgbClr val="9A43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8376314" y="3730402"/>
            <a:ext cx="0" cy="612996"/>
          </a:xfrm>
          <a:prstGeom prst="line">
            <a:avLst/>
          </a:prstGeom>
          <a:noFill/>
          <a:ln w="21590">
            <a:solidFill>
              <a:srgbClr val="9A43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267069" y="5172395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25D"/>
                </a:solidFill>
              </a:rPr>
              <a:t>Una tabla de hechos central y dimensiones que filtran en una sola dirección.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52" name="Picture 51" descr="Ey logo - Social media &amp; Logos Icons">
            <a:extLst>
              <a:ext uri="{FF2B5EF4-FFF2-40B4-BE49-F238E27FC236}">
                <a16:creationId xmlns:a16="http://schemas.microsoft.com/office/drawing/2014/main" id="{329C5479-1A8B-ED36-AE81-8F3E7576A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0A5A8332-55B8-1323-DC23-0012D58F590E}"/>
              </a:ext>
            </a:extLst>
          </p:cNvPr>
          <p:cNvGrpSpPr/>
          <p:nvPr/>
        </p:nvGrpSpPr>
        <p:grpSpPr>
          <a:xfrm>
            <a:off x="9467469" y="2031431"/>
            <a:ext cx="1280160" cy="566928"/>
            <a:chOff x="8321040" y="2148840"/>
            <a:chExt cx="1508760" cy="566928"/>
          </a:xfrm>
          <a:solidFill>
            <a:schemeClr val="bg1">
              <a:lumMod val="95000"/>
            </a:schemeClr>
          </a:solidFill>
        </p:grpSpPr>
        <p:sp>
          <p:nvSpPr>
            <p:cNvPr id="59" name="Shape 28">
              <a:extLst>
                <a:ext uri="{FF2B5EF4-FFF2-40B4-BE49-F238E27FC236}">
                  <a16:creationId xmlns:a16="http://schemas.microsoft.com/office/drawing/2014/main" id="{04E68442-F551-E823-01F0-1391A5F8B3D2}"/>
                </a:ext>
              </a:extLst>
            </p:cNvPr>
            <p:cNvSpPr/>
            <p:nvPr/>
          </p:nvSpPr>
          <p:spPr>
            <a:xfrm>
              <a:off x="8321040" y="2148840"/>
              <a:ext cx="1508760" cy="566928"/>
            </a:xfrm>
            <a:prstGeom prst="roundRect">
              <a:avLst>
                <a:gd name="adj" fmla="val 11290"/>
              </a:avLst>
            </a:prstGeom>
            <a:grpFill/>
            <a:ln w="12700">
              <a:solidFill>
                <a:srgbClr val="D8A38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6891ECE9-B6D6-B48C-0B72-EA42B85AB433}"/>
                </a:ext>
              </a:extLst>
            </p:cNvPr>
            <p:cNvSpPr/>
            <p:nvPr/>
          </p:nvSpPr>
          <p:spPr>
            <a:xfrm>
              <a:off x="8394192" y="2340864"/>
              <a:ext cx="1362456" cy="1828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</a:rPr>
                <a:t>_Measures</a:t>
              </a:r>
              <a:endParaRPr lang="en-US" sz="1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 1 | Crecimiento sólido, con una señal de desaceleración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Sales Performance - Executive Overview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9682D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04088" y="1444752"/>
            <a:ext cx="1746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625D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682D"/>
                </a:solidFill>
              </a:rPr>
              <a:t>$366.35M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9682D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852928" y="1444752"/>
            <a:ext cx="1746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625D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34640" y="1709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682D"/>
                </a:solidFill>
              </a:rPr>
              <a:t>58.44%</a:t>
            </a:r>
            <a:endParaRPr lang="en-US" sz="20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9446D97-15EB-0F09-CE01-4A87FB32011B}"/>
              </a:ext>
            </a:extLst>
          </p:cNvPr>
          <p:cNvGrpSpPr/>
          <p:nvPr/>
        </p:nvGrpSpPr>
        <p:grpSpPr>
          <a:xfrm>
            <a:off x="4892040" y="1325880"/>
            <a:ext cx="1965960" cy="960120"/>
            <a:chOff x="4892040" y="1325880"/>
            <a:chExt cx="1965960" cy="960120"/>
          </a:xfrm>
        </p:grpSpPr>
        <p:sp>
          <p:nvSpPr>
            <p:cNvPr id="10" name="Shape 8"/>
            <p:cNvSpPr/>
            <p:nvPr/>
          </p:nvSpPr>
          <p:spPr>
            <a:xfrm>
              <a:off x="4892040" y="1325880"/>
              <a:ext cx="196596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2700">
              <a:solidFill>
                <a:srgbClr val="E9682D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9"/>
            <p:cNvSpPr/>
            <p:nvPr/>
          </p:nvSpPr>
          <p:spPr>
            <a:xfrm>
              <a:off x="5001768" y="1444752"/>
              <a:ext cx="1746504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E625D"/>
                  </a:solidFill>
                </a:rPr>
                <a:t>TOTAL ORDERS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983480" y="1709928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9682D"/>
                  </a:solidFill>
                </a:rPr>
                <a:t>50K</a:t>
              </a:r>
              <a:endParaRPr lang="en-US" sz="20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704088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9682D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150608" y="1444752"/>
            <a:ext cx="1746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625D"/>
                </a:solidFill>
              </a:rPr>
              <a:t>AVG ORDER VALUE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0" y="1709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682D"/>
                </a:solidFill>
              </a:rPr>
              <a:t>$7.33K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22582" y="2578924"/>
            <a:ext cx="688474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9116568" y="1325880"/>
            <a:ext cx="2514600" cy="4663440"/>
          </a:xfrm>
          <a:prstGeom prst="roundRect">
            <a:avLst>
              <a:gd name="adj" fmla="val 2759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9235440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9A431F"/>
                </a:solidFill>
              </a:rPr>
              <a:t>LECTURA EJECUTIVA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0" y="20574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A2A20"/>
                </a:solidFill>
              </a:rPr>
              <a:t>El negocio acumula $366.35M y 50K pedidos.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35440" y="2944368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D"/>
                </a:solidFill>
              </a:rPr>
              <a:t>La tendencia se mantiene estable durante 2024–2025, pero cae con fuerza al inicio de 2026.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35440" y="4270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9682D"/>
                </a:solidFill>
              </a:rPr>
              <a:t>IMPLICACIÓN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35440" y="459028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A20"/>
                </a:solidFill>
              </a:rPr>
              <a:t>Priorizar el diagnóstico de la caída reciente antes de planificar crecimiento adicional.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8" name="Picture 47" descr="Ey logo - Social media &amp; Logos Icons">
            <a:extLst>
              <a:ext uri="{FF2B5EF4-FFF2-40B4-BE49-F238E27FC236}">
                <a16:creationId xmlns:a16="http://schemas.microsoft.com/office/drawing/2014/main" id="{AB4FD115-878D-2DE4-B5EC-AFBA4AB4B1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A6DC14F-029A-1259-CB07-E1C3BDB80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557" y="2606040"/>
            <a:ext cx="6336792" cy="3329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 2 | Electronics concentra la mitad del revenue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Product Performance Analysis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682D"/>
                </a:solidFill>
              </a:rPr>
              <a:t>$186.16M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A20"/>
                </a:solidFill>
              </a:rPr>
              <a:t>Revenue de Electronics | 50.8% del total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1325880"/>
            <a:ext cx="4133088" cy="2084832"/>
          </a:xfrm>
          <a:prstGeom prst="roundRect">
            <a:avLst>
              <a:gd name="adj" fmla="val 3509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818120" y="1664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9A431F"/>
                </a:solidFill>
              </a:rPr>
              <a:t>TOP PRODUCT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18120" y="1993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A20"/>
                </a:solidFill>
              </a:rPr>
              <a:t>Headphones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81812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682D"/>
                </a:solidFill>
              </a:rPr>
              <a:t>$35M revenue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98080" y="3639312"/>
            <a:ext cx="413308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818120" y="3977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E9682D"/>
                </a:solidFill>
              </a:rPr>
              <a:t>IMPLICACIÓN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18120" y="43159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A2A20"/>
                </a:solidFill>
              </a:rPr>
              <a:t>La concentración crea una oportunidad comercial, pero también dependencia de una sola categoría.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18120" y="5285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25D"/>
                </a:solidFill>
              </a:rPr>
              <a:t>Los descuentos muestran correlación visual positiva con revenue, pero no prueban causalidad.</a:t>
            </a:r>
            <a:endParaRPr lang="en-US" sz="9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5" name="Picture 34" descr="Ey logo - Social media &amp; Logos Icons">
            <a:extLst>
              <a:ext uri="{FF2B5EF4-FFF2-40B4-BE49-F238E27FC236}">
                <a16:creationId xmlns:a16="http://schemas.microsoft.com/office/drawing/2014/main" id="{EA2E50D2-E80B-A943-9E35-3289E620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0A696D9-408C-63D2-1D79-A5BDDE7D5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14" y="2542032"/>
            <a:ext cx="6304518" cy="3118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 3 | El valor se concentra en clientes Regular y 55+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Customer Performance Analysis</a:t>
            </a:r>
            <a:endParaRPr lang="en-US" sz="11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12E88A-168A-50E0-0050-68467B3FDAAA}"/>
              </a:ext>
            </a:extLst>
          </p:cNvPr>
          <p:cNvGrpSpPr/>
          <p:nvPr/>
        </p:nvGrpSpPr>
        <p:grpSpPr>
          <a:xfrm>
            <a:off x="612648" y="1325880"/>
            <a:ext cx="1719935" cy="960120"/>
            <a:chOff x="612648" y="1325880"/>
            <a:chExt cx="1719935" cy="960120"/>
          </a:xfrm>
        </p:grpSpPr>
        <p:sp>
          <p:nvSpPr>
            <p:cNvPr id="4" name="Shape 2"/>
            <p:cNvSpPr/>
            <p:nvPr/>
          </p:nvSpPr>
          <p:spPr>
            <a:xfrm>
              <a:off x="612648" y="1325880"/>
              <a:ext cx="1719935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2700">
              <a:solidFill>
                <a:srgbClr val="E9682D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 3"/>
            <p:cNvSpPr/>
            <p:nvPr/>
          </p:nvSpPr>
          <p:spPr>
            <a:xfrm>
              <a:off x="722376" y="1444752"/>
              <a:ext cx="1544282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E625D"/>
                  </a:solidFill>
                </a:rPr>
                <a:t>REVENUE / CUSTOMER</a:t>
              </a:r>
              <a:endParaRPr lang="en-US" sz="8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4088" y="1709928"/>
              <a:ext cx="157355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9682D"/>
                  </a:solidFill>
                </a:rPr>
                <a:t>$36.63K</a:t>
              </a:r>
              <a:endParaRPr lang="en-US" sz="2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DC582D-037B-210A-983B-5287AD04723B}"/>
              </a:ext>
            </a:extLst>
          </p:cNvPr>
          <p:cNvGrpSpPr/>
          <p:nvPr/>
        </p:nvGrpSpPr>
        <p:grpSpPr>
          <a:xfrm>
            <a:off x="2757247" y="1325880"/>
            <a:ext cx="1719935" cy="960120"/>
            <a:chOff x="2944368" y="1325880"/>
            <a:chExt cx="1719935" cy="960120"/>
          </a:xfrm>
        </p:grpSpPr>
        <p:sp>
          <p:nvSpPr>
            <p:cNvPr id="7" name="Shape 5"/>
            <p:cNvSpPr/>
            <p:nvPr/>
          </p:nvSpPr>
          <p:spPr>
            <a:xfrm>
              <a:off x="2944368" y="1325880"/>
              <a:ext cx="1719935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2700">
              <a:solidFill>
                <a:srgbClr val="E9682D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 6"/>
            <p:cNvSpPr/>
            <p:nvPr/>
          </p:nvSpPr>
          <p:spPr>
            <a:xfrm>
              <a:off x="3054096" y="1444752"/>
              <a:ext cx="1544282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E625D"/>
                  </a:solidFill>
                </a:rPr>
                <a:t>TOTAL CUSTOMERS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35808" y="1709928"/>
              <a:ext cx="157355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9682D"/>
                  </a:solidFill>
                </a:rPr>
                <a:t>10K</a:t>
              </a:r>
              <a:endParaRPr lang="en-US" sz="2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765870-F155-F4C6-BBF6-A5E6B81AD686}"/>
              </a:ext>
            </a:extLst>
          </p:cNvPr>
          <p:cNvGrpSpPr/>
          <p:nvPr/>
        </p:nvGrpSpPr>
        <p:grpSpPr>
          <a:xfrm>
            <a:off x="4901846" y="1325880"/>
            <a:ext cx="1719935" cy="960120"/>
            <a:chOff x="5276088" y="1325880"/>
            <a:chExt cx="1719935" cy="960120"/>
          </a:xfrm>
        </p:grpSpPr>
        <p:sp>
          <p:nvSpPr>
            <p:cNvPr id="10" name="Shape 8"/>
            <p:cNvSpPr/>
            <p:nvPr/>
          </p:nvSpPr>
          <p:spPr>
            <a:xfrm>
              <a:off x="5276088" y="1325880"/>
              <a:ext cx="1719935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2700">
              <a:solidFill>
                <a:srgbClr val="E9682D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9"/>
            <p:cNvSpPr/>
            <p:nvPr/>
          </p:nvSpPr>
          <p:spPr>
            <a:xfrm>
              <a:off x="5385816" y="1444752"/>
              <a:ext cx="1544282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E625D"/>
                  </a:solidFill>
                </a:rPr>
                <a:t>AVG LIFETIME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67528" y="1709928"/>
              <a:ext cx="157355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9682D"/>
                  </a:solidFill>
                </a:rPr>
                <a:t>2.00 years</a:t>
              </a:r>
              <a:endParaRPr lang="en-US" sz="20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612647" y="2560320"/>
            <a:ext cx="6009133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7098794" y="1325880"/>
            <a:ext cx="4532374" cy="4526280"/>
          </a:xfrm>
          <a:prstGeom prst="roundRect">
            <a:avLst>
              <a:gd name="adj" fmla="val 1616"/>
            </a:avLst>
          </a:prstGeom>
          <a:solidFill>
            <a:srgbClr val="F7DDD0"/>
          </a:solidFill>
          <a:ln w="12700">
            <a:solidFill>
              <a:srgbClr val="F7DDD0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20852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682D"/>
                </a:solidFill>
              </a:rPr>
              <a:t>55+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235952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A20"/>
                </a:solidFill>
              </a:rPr>
              <a:t>grupo de edad con mayor revenue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0852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A431F"/>
                </a:solidFill>
              </a:rPr>
              <a:t>$0.36bn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235952" y="3401568"/>
            <a:ext cx="4251960" cy="1"/>
          </a:xfrm>
          <a:prstGeom prst="line">
            <a:avLst/>
          </a:prstGeom>
          <a:noFill/>
          <a:ln w="15240">
            <a:solidFill>
              <a:srgbClr val="D7A0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235952" y="36941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E9682D"/>
                </a:solidFill>
              </a:rPr>
              <a:t>IMPLICACIÓN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35952" y="4023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A2A20"/>
                </a:solidFill>
              </a:rPr>
              <a:t>La propuesta comercial debe adaptarse al cliente maduro y reforzar la conversión de New y VIP.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235952" y="51480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5D"/>
                </a:solidFill>
              </a:rPr>
              <a:t>Tehran concentra 2.803 clientes, la mayor cifra por ciudad en el dashboard.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4" name="Picture 33" descr="Ey logo - Social media &amp; Logos Icons">
            <a:extLst>
              <a:ext uri="{FF2B5EF4-FFF2-40B4-BE49-F238E27FC236}">
                <a16:creationId xmlns:a16="http://schemas.microsoft.com/office/drawing/2014/main" id="{CA0BA050-18B3-FD90-A6EC-0DA222AD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B01B45B-883A-EDFD-6EB1-4D62DE8D1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80" y="2694263"/>
            <a:ext cx="5768772" cy="3023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10771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Recomendaciones | Convertir los hallazgos en tres decisiones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5D"/>
                </a:solidFill>
              </a:rPr>
              <a:t>Acciones concretas, responsables y horizonte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E9682D"/>
          </a:solidFill>
          <a:ln w="12700">
            <a:solidFill>
              <a:srgbClr val="E9682D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71907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77824" y="226771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Diagnosticar la caída de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317296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5EF"/>
                </a:solidFill>
              </a:rPr>
              <a:t>Desglosar revenue por categoría, ciudad, segmento, método de pago y estado para identificar el origen de la desaceleración.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" y="4617720"/>
            <a:ext cx="2834640" cy="1"/>
          </a:xfrm>
          <a:prstGeom prst="line">
            <a:avLst/>
          </a:prstGeom>
          <a:noFill/>
          <a:ln w="12700">
            <a:solidFill>
              <a:srgbClr val="F7B8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77824" y="4892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Owner: Sales / BI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5257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Horizonte: 30 días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6B49F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90872" y="171907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682D"/>
                </a:solidFill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690872" y="226771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A2A20"/>
                </a:solidFill>
              </a:rPr>
              <a:t>Proteger y diversificar Electronics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90872" y="317296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D"/>
                </a:solidFill>
              </a:rPr>
              <a:t>Asegurar disponibilidad de los productos líderes y probar bundles con categorías de menor penetración para reducir concentración.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90872" y="4617720"/>
            <a:ext cx="2834640" cy="1"/>
          </a:xfrm>
          <a:prstGeom prst="line">
            <a:avLst/>
          </a:prstGeom>
          <a:noFill/>
          <a:ln w="12700">
            <a:solidFill>
              <a:srgbClr val="E4C1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90872" y="4892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431F"/>
                </a:solidFill>
              </a:rPr>
              <a:t>Owner: Product / Commercial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0872" y="5257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25D"/>
                </a:solidFill>
              </a:rPr>
              <a:t>Horizonte: trimestre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47888" y="141732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6B49F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503920" y="171907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682D"/>
                </a:solidFill>
              </a:rPr>
              <a:t>03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503920" y="226771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A2A20"/>
                </a:solidFill>
              </a:rPr>
              <a:t>Segmentar la propuesta de cliente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03920" y="317296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D"/>
                </a:solidFill>
              </a:rPr>
              <a:t>Crear campañas para 55+ y Regular, junto con journeys específicos de activación para New y fidelización para VIP.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17720"/>
            <a:ext cx="2834640" cy="1"/>
          </a:xfrm>
          <a:prstGeom prst="line">
            <a:avLst/>
          </a:prstGeom>
          <a:noFill/>
          <a:ln w="12700">
            <a:solidFill>
              <a:srgbClr val="E4C1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503920" y="4892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431F"/>
                </a:solidFill>
              </a:rPr>
              <a:t>Owner: CRM / Marketing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5257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25D"/>
                </a:solidFill>
              </a:rPr>
              <a:t>Horizonte: 60–90 días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7" name="Picture 26" descr="Ey logo - Social media &amp; Logos Icons">
            <a:extLst>
              <a:ext uri="{FF2B5EF4-FFF2-40B4-BE49-F238E27FC236}">
                <a16:creationId xmlns:a16="http://schemas.microsoft.com/office/drawing/2014/main" id="{F085131E-CDEB-7420-724E-905C9A95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846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A2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del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56132"/>
            <a:ext cx="85496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7B9A5"/>
            </a:solidFill>
            <a:prstDash val="soli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9464996" y="3030588"/>
            <a:ext cx="2240280" cy="868853"/>
          </a:xfrm>
          <a:prstGeom prst="roundRect">
            <a:avLst>
              <a:gd name="adj" fmla="val 3265"/>
            </a:avLst>
          </a:prstGeom>
          <a:solidFill>
            <a:srgbClr val="F7DDD0"/>
          </a:solidFill>
          <a:ln w="12700">
            <a:solidFill>
              <a:schemeClr val="accent2">
                <a:lumMod val="75000"/>
              </a:schemeClr>
            </a:solidFill>
            <a:prstDash val="dash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9739316" y="3259275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AL DASHBOARD</a:t>
            </a:r>
            <a:endParaRPr lang="en-US" sz="1100" i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B6A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4" name="Picture 23" descr="Ey logo - Social media &amp; Logos Icons">
            <a:extLst>
              <a:ext uri="{FF2B5EF4-FFF2-40B4-BE49-F238E27FC236}">
                <a16:creationId xmlns:a16="http://schemas.microsoft.com/office/drawing/2014/main" id="{D75A1963-31A2-764E-5DD5-202655F1F6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98" t="6840" r="31073" b="14152"/>
          <a:stretch>
            <a:fillRect/>
          </a:stretch>
        </p:blipFill>
        <p:spPr>
          <a:xfrm>
            <a:off x="11542605" y="251577"/>
            <a:ext cx="469734" cy="499784"/>
          </a:xfrm>
          <a:prstGeom prst="rect">
            <a:avLst/>
          </a:prstGeom>
        </p:spPr>
      </p:pic>
      <p:pic>
        <p:nvPicPr>
          <p:cNvPr id="30" name="Graphic 29" descr="Right pointing backhand index with solid fill">
            <a:extLst>
              <a:ext uri="{FF2B5EF4-FFF2-40B4-BE49-F238E27FC236}">
                <a16:creationId xmlns:a16="http://schemas.microsoft.com/office/drawing/2014/main" id="{B7DCB348-D86F-3FB1-A2DC-DB7460D97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119499" y="3587984"/>
            <a:ext cx="622913" cy="6229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84602C0-9896-32FE-172D-7095F8C2C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8" y="1194814"/>
            <a:ext cx="8213058" cy="47705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6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682D"/>
          </a:solidFill>
          <a:ln w="12700">
            <a:solidFill>
              <a:srgbClr val="E968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 rot="1500000">
            <a:off x="8458200" y="228600"/>
            <a:ext cx="3383280" cy="3383280"/>
          </a:xfrm>
          <a:prstGeom prst="arc">
            <a:avLst/>
          </a:prstGeom>
          <a:solidFill>
            <a:srgbClr val="EFC4AE">
              <a:alpha val="90000"/>
            </a:srgbClr>
          </a:solidFill>
          <a:ln w="12700">
            <a:solidFill>
              <a:srgbClr val="EFC4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20" dirty="0">
                <a:solidFill>
                  <a:srgbClr val="FFEDE3"/>
                </a:solidFill>
              </a:rPr>
              <a:t>Tres mensajes para cerrar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6675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Crecer,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proteger,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segmentar.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6537960" y="3584448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Diagnosticar la caída de 2026.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Proteger Electronics sin aumentar la dependencia.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Activar una estrategia específica por segmento y edad.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5897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¿Preguntas?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49640" y="60533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DE3"/>
                </a:solidFill>
              </a:rPr>
              <a:t>Andrea De Vicente Grau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1574</Words>
  <Application>Microsoft Office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Ironhack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Performance Analysis</dc:title>
  <dc:subject>E-Commerce Power BI Mini Project</dc:subject>
  <dc:creator>Andrea De Vicente Grau</dc:creator>
  <cp:lastModifiedBy>Andrea De Vicente Grau</cp:lastModifiedBy>
  <cp:revision>2</cp:revision>
  <dcterms:created xsi:type="dcterms:W3CDTF">2026-09-30T11:24:25Z</dcterms:created>
  <dcterms:modified xsi:type="dcterms:W3CDTF">2026-09-30T15:55:46Z</dcterms:modified>
</cp:coreProperties>
</file>